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612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30"/>
          <p:cNvSpPr/>
          <p:nvPr/>
        </p:nvSpPr>
        <p:spPr>
          <a:xfrm>
            <a:off x="4754880" y="2514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1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OS  ·  ANY MACHINE  ·  YOUR RULES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063240"/>
            <a:ext cx="1261872" cy="256032"/>
          </a:xfrm>
          <a:prstGeom prst="roundRect">
            <a:avLst>
              <a:gd name="adj" fmla="val 17857"/>
            </a:avLst>
          </a:prstGeom>
          <a:solidFill>
            <a:srgbClr val="2EC4A8">
              <a:alpha val="18000"/>
            </a:srgbClr>
          </a:solidFill>
          <a:ln w="6350">
            <a:solidFill>
              <a:srgbClr val="2EC4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0632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4A8"/>
                </a:solidFill>
              </a:rPr>
              <a:t>Design phase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44768" y="3063240"/>
            <a:ext cx="1261872" cy="256032"/>
          </a:xfrm>
          <a:prstGeom prst="roundRect">
            <a:avLst>
              <a:gd name="adj" fmla="val 17857"/>
            </a:avLst>
          </a:prstGeom>
          <a:solidFill>
            <a:srgbClr val="B87040">
              <a:alpha val="18000"/>
            </a:srgbClr>
          </a:solidFill>
          <a:ln w="6350">
            <a:solidFill>
              <a:srgbClr val="B870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44768" y="30632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7040"/>
                </a:solidFill>
              </a:rPr>
              <a:t>Architecture locked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534656" y="3063240"/>
            <a:ext cx="1261872" cy="256032"/>
          </a:xfrm>
          <a:prstGeom prst="roundRect">
            <a:avLst>
              <a:gd name="adj" fmla="val 17857"/>
            </a:avLst>
          </a:prstGeom>
          <a:solidFill>
            <a:srgbClr val="B87040">
              <a:alpha val="18000"/>
            </a:srgbClr>
          </a:solidFill>
          <a:ln w="6350">
            <a:solidFill>
              <a:srgbClr val="B870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34656" y="30632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7040"/>
                </a:solidFill>
              </a:rPr>
              <a:t>Identity locked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54880" y="3410712"/>
            <a:ext cx="1261872" cy="256032"/>
          </a:xfrm>
          <a:prstGeom prst="roundRect">
            <a:avLst>
              <a:gd name="adj" fmla="val 17857"/>
            </a:avLst>
          </a:prstGeom>
          <a:solidFill>
            <a:srgbClr val="B87040">
              <a:alpha val="18000"/>
            </a:srgbClr>
          </a:solidFill>
          <a:ln w="6350">
            <a:solidFill>
              <a:srgbClr val="B870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41071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7040"/>
                </a:solidFill>
              </a:rPr>
              <a:t>Shell designed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144768" y="3410712"/>
            <a:ext cx="1261872" cy="256032"/>
          </a:xfrm>
          <a:prstGeom prst="roundRect">
            <a:avLst>
              <a:gd name="adj" fmla="val 17857"/>
            </a:avLst>
          </a:prstGeom>
          <a:solidFill>
            <a:srgbClr val="5A8A7A">
              <a:alpha val="18000"/>
            </a:srgbClr>
          </a:solidFill>
          <a:ln w="6350">
            <a:solidFill>
              <a:srgbClr val="5A8A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44768" y="341071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8A7A"/>
                </a:solidFill>
              </a:rPr>
              <a:t>Implementation next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74320" y="4882896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8A7A"/>
                </a:solidFill>
              </a:rPr>
              <a:t>AlterniTech  ·  alternitech.square.site  ·  github.com/DansDesigns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14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"/>
            <a:ext cx="9144000" cy="18288"/>
          </a:xfrm>
          <a:prstGeom prst="rect">
            <a:avLst/>
          </a:prstGeom>
          <a:solidFill>
            <a:srgbClr val="B87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03120" y="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B87040"/>
                </a:solidFill>
              </a:rPr>
              <a:t>FOUNDATIONS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1920240" cy="1463040"/>
          </a:xfrm>
          <a:prstGeom prst="rect">
            <a:avLst/>
          </a:prstGeom>
          <a:solidFill>
            <a:srgbClr val="111A18"/>
          </a:solidFill>
          <a:ln w="10160">
            <a:solidFill>
              <a:srgbClr val="2EC4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31520"/>
            <a:ext cx="54864" cy="1463040"/>
          </a:xfrm>
          <a:prstGeom prst="rect">
            <a:avLst/>
          </a:prstGeom>
          <a:solidFill>
            <a:srgbClr val="2EC4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freely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731520"/>
            <a:ext cx="1920240" cy="1463040"/>
          </a:xfrm>
          <a:prstGeom prst="rect">
            <a:avLst/>
          </a:prstGeom>
          <a:solidFill>
            <a:srgbClr val="111A18"/>
          </a:solidFill>
          <a:ln w="10160">
            <a:solidFill>
              <a:srgbClr val="B87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731520"/>
            <a:ext cx="54864" cy="1463040"/>
          </a:xfrm>
          <a:prstGeom prst="rect">
            <a:avLst/>
          </a:prstGeom>
          <a:solidFill>
            <a:srgbClr val="B87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51176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51176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anything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731520"/>
            <a:ext cx="1920240" cy="1463040"/>
          </a:xfrm>
          <a:prstGeom prst="rect">
            <a:avLst/>
          </a:prstGeom>
          <a:solidFill>
            <a:srgbClr val="111A18"/>
          </a:solidFill>
          <a:ln w="10160">
            <a:solidFill>
              <a:srgbClr val="639922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731520"/>
            <a:ext cx="54864" cy="1463040"/>
          </a:xfrm>
          <a:prstGeom prst="rect">
            <a:avLst/>
          </a:prstGeom>
          <a:solidFill>
            <a:srgbClr val="6399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0016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wasted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0840" y="731520"/>
            <a:ext cx="1920240" cy="1463040"/>
          </a:xfrm>
          <a:prstGeom prst="rect">
            <a:avLst/>
          </a:prstGeom>
          <a:solidFill>
            <a:srgbClr val="111A18"/>
          </a:solidFill>
          <a:ln w="10160">
            <a:solidFill>
              <a:srgbClr val="534AB7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0840" y="731520"/>
            <a:ext cx="54864" cy="1463040"/>
          </a:xfrm>
          <a:prstGeom prst="rect">
            <a:avLst/>
          </a:prstGeom>
          <a:solidFill>
            <a:srgbClr val="534A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48856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48856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hardware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834640"/>
            <a:ext cx="1920240" cy="1463040"/>
          </a:xfrm>
          <a:prstGeom prst="rect">
            <a:avLst/>
          </a:prstGeom>
          <a:solidFill>
            <a:srgbClr val="111A18"/>
          </a:solidFill>
          <a:ln w="1016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834640"/>
            <a:ext cx="54864" cy="1463040"/>
          </a:xfrm>
          <a:prstGeom prst="rect">
            <a:avLst/>
          </a:prstGeom>
          <a:solidFill>
            <a:srgbClr val="EF9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CUSTOMISABILITY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2336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yours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23160" y="2834640"/>
            <a:ext cx="1920240" cy="1463040"/>
          </a:xfrm>
          <a:prstGeom prst="rect">
            <a:avLst/>
          </a:prstGeom>
          <a:solidFill>
            <a:srgbClr val="111A18"/>
          </a:solidFill>
          <a:ln w="10160">
            <a:solidFill>
              <a:srgbClr val="1A9E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23160" y="2834640"/>
            <a:ext cx="54864" cy="1463040"/>
          </a:xfrm>
          <a:prstGeom prst="rect">
            <a:avLst/>
          </a:prstGeom>
          <a:solidFill>
            <a:srgbClr val="1A9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51176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51176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foundations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2834640"/>
            <a:ext cx="1920240" cy="1463040"/>
          </a:xfrm>
          <a:prstGeom prst="rect">
            <a:avLst/>
          </a:prstGeom>
          <a:solidFill>
            <a:srgbClr val="111A18"/>
          </a:solidFill>
          <a:ln w="10160">
            <a:solidFill>
              <a:srgbClr val="E24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2834640"/>
            <a:ext cx="54864" cy="1463040"/>
          </a:xfrm>
          <a:prstGeom prst="rect">
            <a:avLst/>
          </a:prstGeom>
          <a:solidFill>
            <a:srgbClr val="E24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0016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00016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first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20840" y="2834640"/>
            <a:ext cx="1920240" cy="1463040"/>
          </a:xfrm>
          <a:prstGeom prst="rect">
            <a:avLst/>
          </a:prstGeom>
          <a:solidFill>
            <a:srgbClr val="111A18"/>
          </a:solidFill>
          <a:ln w="10160">
            <a:solidFill>
              <a:srgbClr val="6A5AC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20840" y="2834640"/>
            <a:ext cx="54864" cy="1463040"/>
          </a:xfrm>
          <a:prstGeom prst="rect">
            <a:avLst/>
          </a:prstGeom>
          <a:solidFill>
            <a:srgbClr val="6A5A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8856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5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FREEDOM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48856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open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C14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B87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0" y="48828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8A7A"/>
                </a:solidFill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14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"/>
            <a:ext cx="9144000" cy="18288"/>
          </a:xfrm>
          <a:prstGeom prst="rect">
            <a:avLst/>
          </a:prstGeom>
          <a:solidFill>
            <a:srgbClr val="B87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03120" y="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B87040"/>
                </a:solidFill>
              </a:rPr>
              <a:t>SYSTEM ARCHITECTURE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640080"/>
            <a:ext cx="8595360" cy="457200"/>
          </a:xfrm>
          <a:prstGeom prst="rect">
            <a:avLst/>
          </a:prstGeom>
          <a:solidFill>
            <a:srgbClr val="111A18"/>
          </a:solidFill>
          <a:ln w="7620">
            <a:solidFill>
              <a:srgbClr val="6A5A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40080"/>
            <a:ext cx="64008" cy="457200"/>
          </a:xfrm>
          <a:prstGeom prst="rect">
            <a:avLst/>
          </a:prstGeom>
          <a:solidFill>
            <a:srgbClr val="6A5A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766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A5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8595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(Flatpak/ELF) · Android (ART) · Windows (Wine) · Native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170432"/>
            <a:ext cx="8595360" cy="457200"/>
          </a:xfrm>
          <a:prstGeom prst="rect">
            <a:avLst/>
          </a:prstGeom>
          <a:solidFill>
            <a:srgbClr val="111A18"/>
          </a:solidFill>
          <a:ln w="7620">
            <a:solidFill>
              <a:srgbClr val="534A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170432"/>
            <a:ext cx="64008" cy="457200"/>
          </a:xfrm>
          <a:prstGeom prst="rect">
            <a:avLst/>
          </a:prstGeom>
          <a:solidFill>
            <a:srgbClr val="534A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070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LAYERS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3898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NexOS-emulation/ — namespace-isolated per compat domain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1700784"/>
            <a:ext cx="8595360" cy="457200"/>
          </a:xfrm>
          <a:prstGeom prst="rect">
            <a:avLst/>
          </a:prstGeom>
          <a:solidFill>
            <a:srgbClr val="111A18"/>
          </a:solidFill>
          <a:ln w="7620">
            <a:solidFill>
              <a:srgbClr val="2EC4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700784"/>
            <a:ext cx="64008" cy="457200"/>
          </a:xfrm>
          <a:prstGeom prst="rect">
            <a:avLst/>
          </a:prstGeom>
          <a:solidFill>
            <a:srgbClr val="2EC4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7373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SHELL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19202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NexOS CLI (tabs: shell/apps/files/clock) + XLibre + Qtile canvas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231136"/>
            <a:ext cx="8595360" cy="457200"/>
          </a:xfrm>
          <a:prstGeom prst="rect">
            <a:avLst/>
          </a:prstGeom>
          <a:solidFill>
            <a:srgbClr val="111A18"/>
          </a:solidFill>
          <a:ln w="7620">
            <a:solidFill>
              <a:srgbClr val="1A9E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31136"/>
            <a:ext cx="64008" cy="457200"/>
          </a:xfrm>
          <a:prstGeom prst="rect">
            <a:avLst/>
          </a:prstGeom>
          <a:solidFill>
            <a:srgbClr val="1A9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2677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2450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NexOS-services/ — voice · audio (PipeWire) · network · display · pkg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2761488"/>
            <a:ext cx="8595360" cy="457200"/>
          </a:xfrm>
          <a:prstGeom prst="rect">
            <a:avLst/>
          </a:prstGeom>
          <a:solidFill>
            <a:srgbClr val="111A18"/>
          </a:solidFill>
          <a:ln w="7620">
            <a:solidFill>
              <a:srgbClr val="639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761488"/>
            <a:ext cx="64008" cy="457200"/>
          </a:xfrm>
          <a:prstGeom prst="rect">
            <a:avLst/>
          </a:prstGeom>
          <a:solidFill>
            <a:srgbClr val="6399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7980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&amp; NLP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29809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NexOS-speech/ — Whisper.cpp STT · Piper TTS · intent layer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3291840"/>
            <a:ext cx="8595360" cy="457200"/>
          </a:xfrm>
          <a:prstGeom prst="rect">
            <a:avLst/>
          </a:prstGeom>
          <a:solidFill>
            <a:srgbClr val="111A18"/>
          </a:solidFill>
          <a:ln w="7620">
            <a:solidFill>
              <a:srgbClr val="EF9F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291840"/>
            <a:ext cx="64008" cy="457200"/>
          </a:xfrm>
          <a:prstGeom prst="rect">
            <a:avLst/>
          </a:prstGeom>
          <a:solidFill>
            <a:srgbClr val="EF9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328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FRAMEWORK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35112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driver compat shim — GPU · Storage · USB · Audio · WiFi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3822192"/>
            <a:ext cx="8595360" cy="457200"/>
          </a:xfrm>
          <a:prstGeom prst="rect">
            <a:avLst/>
          </a:prstGeom>
          <a:solidFill>
            <a:srgbClr val="111A18"/>
          </a:solidFill>
          <a:ln w="7620">
            <a:solidFill>
              <a:srgbClr val="B870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822192"/>
            <a:ext cx="64008" cy="457200"/>
          </a:xfrm>
          <a:prstGeom prst="rect">
            <a:avLst/>
          </a:prstGeom>
          <a:solidFill>
            <a:srgbClr val="B87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8587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(VFS)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40416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NexOS domain layout — everything is a file including hardware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111A18"/>
          </a:solidFill>
          <a:ln w="7620">
            <a:solidFill>
              <a:srgbClr val="E24B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352544"/>
            <a:ext cx="64008" cy="457200"/>
          </a:xfrm>
          <a:prstGeom prst="rect">
            <a:avLst/>
          </a:prstGeom>
          <a:solidFill>
            <a:srgbClr val="E24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389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seL4 MICROKERNEL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verified C · capability-based · 10K lines · mathematically proven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C14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B87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0" y="48828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8A7A"/>
                </a:solidFill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14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"/>
            <a:ext cx="9144000" cy="18288"/>
          </a:xfrm>
          <a:prstGeom prst="rect">
            <a:avLst/>
          </a:prstGeom>
          <a:solidFill>
            <a:srgbClr val="B87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03120" y="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B87040"/>
                </a:solidFill>
              </a:rPr>
              <a:t>FILESYSTEM LAYOUT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640080"/>
            <a:ext cx="4023360" cy="4206240"/>
          </a:xfrm>
          <a:prstGeom prst="rect">
            <a:avLst/>
          </a:prstGeom>
          <a:solidFill>
            <a:srgbClr val="111A18"/>
          </a:solidFill>
          <a:ln w="6350">
            <a:solidFill>
              <a:srgbClr val="0D6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1323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97383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C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NexOS-system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7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NexOS-hardware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49504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C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NexOS-devices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75564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C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NexOS-services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0162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NexOS-speech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27685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8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NexOS-addons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53746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9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NexOS-home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79806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8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NexOS-wallpapers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305866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NexOS-emulation/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31927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4A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 Linux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357987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 Android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384048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4A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 Windows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10108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4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 RetroArch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436168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8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 SNES  GBA  NES  GEN  SMS  PS1  N64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80560" y="640080"/>
            <a:ext cx="4389120" cy="932688"/>
          </a:xfrm>
          <a:prstGeom prst="rect">
            <a:avLst/>
          </a:prstGeom>
          <a:solidFill>
            <a:srgbClr val="111A18"/>
          </a:solidFill>
          <a:ln w="7620">
            <a:solidFill>
              <a:srgbClr val="B870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640080"/>
            <a:ext cx="54864" cy="932688"/>
          </a:xfrm>
          <a:prstGeom prst="rect">
            <a:avLst/>
          </a:prstGeom>
          <a:solidFill>
            <a:srgbClr val="B87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6858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NexOS-hardware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17720" y="89611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is a file: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/NexOS-hardware/cpu/0/temp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80 &gt; /NexOS-hardware/audio/volume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480560" y="1691640"/>
            <a:ext cx="4389120" cy="932688"/>
          </a:xfrm>
          <a:prstGeom prst="rect">
            <a:avLst/>
          </a:prstGeom>
          <a:solidFill>
            <a:srgbClr val="111A18"/>
          </a:solidFill>
          <a:ln w="7620">
            <a:solidFill>
              <a:srgbClr val="639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1691640"/>
            <a:ext cx="54864" cy="932688"/>
          </a:xfrm>
          <a:prstGeom prst="rect">
            <a:avLst/>
          </a:prstGeom>
          <a:solidFill>
            <a:srgbClr val="6399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17373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NexOS-speech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17720" y="194767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STT · TTS · NLP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/NexOS-speech/nlp/intent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'hello' &gt; /NexOS-speech/tts/speak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480560" y="2743200"/>
            <a:ext cx="4389120" cy="932688"/>
          </a:xfrm>
          <a:prstGeom prst="rect">
            <a:avLst/>
          </a:prstGeom>
          <a:solidFill>
            <a:srgbClr val="111A18"/>
          </a:solidFill>
          <a:ln w="7620">
            <a:solidFill>
              <a:srgbClr val="2EC4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0560" y="2743200"/>
            <a:ext cx="54864" cy="932688"/>
          </a:xfrm>
          <a:prstGeom prst="rect">
            <a:avLst/>
          </a:prstGeom>
          <a:solidFill>
            <a:srgbClr val="2EC4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27889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NexOS-services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17720" y="299923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Daemon sockets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/NexOS-services/voice/socket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/NexOS-services/display/socket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480560" y="3794760"/>
            <a:ext cx="4389120" cy="932688"/>
          </a:xfrm>
          <a:prstGeom prst="rect">
            <a:avLst/>
          </a:prstGeom>
          <a:solidFill>
            <a:srgbClr val="111A18"/>
          </a:solidFill>
          <a:ln w="7620">
            <a:solidFill>
              <a:srgbClr val="534AB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80560" y="3794760"/>
            <a:ext cx="54864" cy="932688"/>
          </a:xfrm>
          <a:prstGeom prst="rect">
            <a:avLst/>
          </a:prstGeom>
          <a:solidFill>
            <a:srgbClr val="534A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38404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NexOS-emulation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17720" y="405079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Guests — not equals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Bind-mount into app namespace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Transparent to compat apps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C14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B87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0" y="48828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8A7A"/>
                </a:solidFill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14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"/>
            <a:ext cx="9144000" cy="18288"/>
          </a:xfrm>
          <a:prstGeom prst="rect">
            <a:avLst/>
          </a:prstGeom>
          <a:solidFill>
            <a:srgbClr val="B87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03120" y="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B87040"/>
                </a:solidFill>
              </a:rPr>
              <a:t>BOOT &amp; INSTALLER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7040"/>
                </a:solidFill>
              </a:rPr>
              <a:t>BOOT SEQUENCE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310896" cy="310896"/>
          </a:xfrm>
          <a:prstGeom prst="ellipse">
            <a:avLst/>
          </a:prstGeom>
          <a:solidFill>
            <a:srgbClr val="2EC4A8">
              <a:alpha val="25000"/>
            </a:srgbClr>
          </a:solidFill>
          <a:ln w="10160">
            <a:solidFill>
              <a:srgbClr val="2EC4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05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C4A8"/>
                </a:solidFill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96926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GRUB2 (UEFI + legacy)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2336" y="1316736"/>
            <a:ext cx="18288" cy="283464"/>
          </a:xfrm>
          <a:prstGeom prst="rect">
            <a:avLst/>
          </a:prstGeom>
          <a:solidFill>
            <a:srgbClr val="2EC4A8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36776"/>
            <a:ext cx="310896" cy="310896"/>
          </a:xfrm>
          <a:prstGeom prst="ellipse">
            <a:avLst/>
          </a:prstGeom>
          <a:solidFill>
            <a:srgbClr val="2EC4A8">
              <a:alpha val="25000"/>
            </a:srgbClr>
          </a:solidFill>
          <a:ln w="10160">
            <a:solidFill>
              <a:srgbClr val="2EC4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36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C4A8"/>
                </a:solidFill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16002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seL4 kernel loads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2336" y="1947672"/>
            <a:ext cx="18288" cy="283464"/>
          </a:xfrm>
          <a:prstGeom prst="rect">
            <a:avLst/>
          </a:prstGeom>
          <a:solidFill>
            <a:srgbClr val="2EC4A8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67712"/>
            <a:ext cx="310896" cy="310896"/>
          </a:xfrm>
          <a:prstGeom prst="ellipse">
            <a:avLst/>
          </a:prstGeom>
          <a:solidFill>
            <a:srgbClr val="EF9F27">
              <a:alpha val="25000"/>
            </a:srgbClr>
          </a:solidFill>
          <a:ln w="10160">
            <a:solidFill>
              <a:srgbClr val="EF9F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9F27"/>
                </a:solidFill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223113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OpenRC sysinit — hardware scan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populates /NexOS-hardware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2336" y="2578608"/>
            <a:ext cx="18288" cy="283464"/>
          </a:xfrm>
          <a:prstGeom prst="rect">
            <a:avLst/>
          </a:prstGeom>
          <a:solidFill>
            <a:srgbClr val="EF9F27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98648"/>
            <a:ext cx="310896" cy="310896"/>
          </a:xfrm>
          <a:prstGeom prst="ellipse">
            <a:avLst/>
          </a:prstGeom>
          <a:solidFill>
            <a:srgbClr val="639922">
              <a:alpha val="25000"/>
            </a:srgbClr>
          </a:solidFill>
          <a:ln w="10160">
            <a:solidFill>
              <a:srgbClr val="6399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898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39922"/>
                </a:solidFill>
              </a:rPr>
              <a:t>04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286207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runlevel — voice active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shell ready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02336" y="3209544"/>
            <a:ext cx="18288" cy="283464"/>
          </a:xfrm>
          <a:prstGeom prst="rect">
            <a:avLst/>
          </a:prstGeom>
          <a:solidFill>
            <a:srgbClr val="639922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529584"/>
            <a:ext cx="310896" cy="310896"/>
          </a:xfrm>
          <a:prstGeom prst="ellipse">
            <a:avLst/>
          </a:prstGeom>
          <a:solidFill>
            <a:srgbClr val="534AB7">
              <a:alpha val="25000"/>
            </a:srgbClr>
          </a:solidFill>
          <a:ln w="10160">
            <a:solidFill>
              <a:srgbClr val="534A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34AB7"/>
                </a:solidFill>
              </a:rPr>
              <a:t>05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" y="34930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GPU detected?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XLibre + Qtile loaded (dormant)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02336" y="3840480"/>
            <a:ext cx="18288" cy="283464"/>
          </a:xfrm>
          <a:prstGeom prst="rect">
            <a:avLst/>
          </a:prstGeom>
          <a:solidFill>
            <a:srgbClr val="534AB7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160520"/>
            <a:ext cx="310896" cy="310896"/>
          </a:xfrm>
          <a:prstGeom prst="ellipse">
            <a:avLst/>
          </a:prstGeom>
          <a:solidFill>
            <a:srgbClr val="6A5AC8">
              <a:alpha val="25000"/>
            </a:srgbClr>
          </a:solidFill>
          <a:ln w="10160">
            <a:solidFill>
              <a:srgbClr val="6A5A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5AC8"/>
                </a:solidFill>
              </a:rPr>
              <a:t>06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" y="412394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'show desktop' — canvas active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63440" y="6583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7040"/>
                </a:solidFill>
              </a:rPr>
              <a:t>INSTALLER — 8 STAGES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969264"/>
            <a:ext cx="4206240" cy="420624"/>
          </a:xfrm>
          <a:prstGeom prst="rect">
            <a:avLst/>
          </a:prstGeom>
          <a:solidFill>
            <a:srgbClr val="111A18"/>
          </a:solidFill>
          <a:ln w="6350">
            <a:solidFill>
              <a:srgbClr val="0D6B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96926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Welcome &amp; language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1463040"/>
            <a:ext cx="4206240" cy="420624"/>
          </a:xfrm>
          <a:prstGeom prst="rect">
            <a:avLst/>
          </a:prstGeom>
          <a:solidFill>
            <a:srgbClr val="111A18"/>
          </a:solidFill>
          <a:ln w="6350">
            <a:solidFill>
              <a:srgbClr val="0D6B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46304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Hardware summary (live scan)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1956816"/>
            <a:ext cx="4206240" cy="420624"/>
          </a:xfrm>
          <a:prstGeom prst="rect">
            <a:avLst/>
          </a:prstGeom>
          <a:solidFill>
            <a:srgbClr val="111A18"/>
          </a:solidFill>
          <a:ln w="6350">
            <a:solidFill>
              <a:srgbClr val="0D6B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95681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Installation type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450592"/>
            <a:ext cx="4206240" cy="420624"/>
          </a:xfrm>
          <a:prstGeom prst="rect">
            <a:avLst/>
          </a:prstGeom>
          <a:solidFill>
            <a:srgbClr val="111A18"/>
          </a:solidFill>
          <a:ln w="6350">
            <a:solidFill>
              <a:srgbClr val="0D6B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45059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Disk setup — donut chart, 6 presets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2944368"/>
            <a:ext cx="4206240" cy="420624"/>
          </a:xfrm>
          <a:prstGeom prst="rect">
            <a:avLst/>
          </a:prstGeom>
          <a:solidFill>
            <a:srgbClr val="111A18"/>
          </a:solidFill>
          <a:ln w="6350">
            <a:solidFill>
              <a:srgbClr val="0D6B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94436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Component selection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3438144"/>
            <a:ext cx="4206240" cy="420624"/>
          </a:xfrm>
          <a:prstGeom prst="rect">
            <a:avLst/>
          </a:prstGeom>
          <a:solidFill>
            <a:srgbClr val="111A18"/>
          </a:solidFill>
          <a:ln w="6350">
            <a:solidFill>
              <a:srgbClr val="0D6B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43814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User setup + voice auth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931920"/>
            <a:ext cx="4206240" cy="420624"/>
          </a:xfrm>
          <a:prstGeom prst="rect">
            <a:avLst/>
          </a:prstGeom>
          <a:solidFill>
            <a:srgbClr val="111A18"/>
          </a:solidFill>
          <a:ln w="6350">
            <a:solidFill>
              <a:srgbClr val="0D6B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393192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Install progress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4425696"/>
            <a:ext cx="4206240" cy="420624"/>
          </a:xfrm>
          <a:prstGeom prst="rect">
            <a:avLst/>
          </a:prstGeom>
          <a:solidFill>
            <a:srgbClr val="111A18"/>
          </a:solidFill>
          <a:ln w="6350">
            <a:solidFill>
              <a:srgbClr val="0D6B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442569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First boot config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4572000"/>
            <a:ext cx="4206240" cy="237744"/>
          </a:xfrm>
          <a:prstGeom prst="rect">
            <a:avLst/>
          </a:prstGeom>
          <a:solidFill>
            <a:srgbClr val="1A9E8A">
              <a:alpha val="20000"/>
            </a:srgbClr>
          </a:solidFill>
          <a:ln w="6350">
            <a:solidFill>
              <a:srgbClr val="2EC4A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457200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4A8"/>
                </a:solidFill>
              </a:rPr>
              <a:t>kexec handoff — boots NexOS without restart (~3s)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C14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B87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12480" y="48828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8A7A"/>
                </a:solidFill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14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"/>
            <a:ext cx="9144000" cy="18288"/>
          </a:xfrm>
          <a:prstGeom prst="rect">
            <a:avLst/>
          </a:prstGeom>
          <a:solidFill>
            <a:srgbClr val="B87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03120" y="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B87040"/>
                </a:solidFill>
              </a:rPr>
              <a:t>SPEECH &amp; VOICE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1920240" cy="1005840"/>
          </a:xfrm>
          <a:prstGeom prst="rect">
            <a:avLst/>
          </a:prstGeom>
          <a:solidFill>
            <a:srgbClr val="111A18"/>
          </a:solidFill>
          <a:ln w="10160">
            <a:solidFill>
              <a:srgbClr val="2EC4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49808"/>
            <a:ext cx="1920240" cy="64008"/>
          </a:xfrm>
          <a:prstGeom prst="rect">
            <a:avLst/>
          </a:prstGeom>
          <a:solidFill>
            <a:srgbClr val="2EC4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778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/NexOS-hardware/audio/mic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12848" y="1188720"/>
            <a:ext cx="246888" cy="64008"/>
          </a:xfrm>
          <a:prstGeom prst="rect">
            <a:avLst/>
          </a:prstGeom>
          <a:solidFill>
            <a:srgbClr val="1A9E8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749808"/>
            <a:ext cx="1920240" cy="1005840"/>
          </a:xfrm>
          <a:prstGeom prst="rect">
            <a:avLst/>
          </a:prstGeom>
          <a:solidFill>
            <a:srgbClr val="111A18"/>
          </a:solidFill>
          <a:ln w="10160">
            <a:solidFill>
              <a:srgbClr val="639922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749808"/>
            <a:ext cx="1920240" cy="64008"/>
          </a:xfrm>
          <a:prstGeom prst="rect">
            <a:avLst/>
          </a:prstGeom>
          <a:solidFill>
            <a:srgbClr val="6399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8778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WHISPER.CPP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1188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· local · streaming words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07408" y="1188720"/>
            <a:ext cx="246888" cy="64008"/>
          </a:xfrm>
          <a:prstGeom prst="rect">
            <a:avLst/>
          </a:prstGeom>
          <a:solidFill>
            <a:srgbClr val="1A9E8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749808"/>
            <a:ext cx="1920240" cy="1005840"/>
          </a:xfrm>
          <a:prstGeom prst="rect">
            <a:avLst/>
          </a:prstGeom>
          <a:solidFill>
            <a:srgbClr val="111A18"/>
          </a:solidFill>
          <a:ln w="1016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749808"/>
            <a:ext cx="1920240" cy="64008"/>
          </a:xfrm>
          <a:prstGeom prst="rect">
            <a:avLst/>
          </a:prstGeom>
          <a:solidFill>
            <a:srgbClr val="EF9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8778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LAYER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1188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confidence score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601968" y="1188720"/>
            <a:ext cx="246888" cy="64008"/>
          </a:xfrm>
          <a:prstGeom prst="rect">
            <a:avLst/>
          </a:prstGeom>
          <a:solidFill>
            <a:srgbClr val="1A9E8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749808"/>
            <a:ext cx="1920240" cy="1005840"/>
          </a:xfrm>
          <a:prstGeom prst="rect">
            <a:avLst/>
          </a:prstGeom>
          <a:solidFill>
            <a:srgbClr val="111A18"/>
          </a:solidFill>
          <a:ln w="10160">
            <a:solidFill>
              <a:srgbClr val="6A5AC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0" y="749808"/>
            <a:ext cx="1920240" cy="64008"/>
          </a:xfrm>
          <a:prstGeom prst="rect">
            <a:avLst/>
          </a:prstGeom>
          <a:solidFill>
            <a:srgbClr val="6A5A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8778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5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0" y="1188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cmd · app launch · view switch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1938528"/>
            <a:ext cx="8595360" cy="749808"/>
          </a:xfrm>
          <a:prstGeom prst="rect">
            <a:avLst/>
          </a:prstGeom>
          <a:solidFill>
            <a:srgbClr val="111A18"/>
          </a:solidFill>
          <a:ln w="7620">
            <a:solidFill>
              <a:srgbClr val="639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1938528"/>
            <a:ext cx="54864" cy="749808"/>
          </a:xfrm>
          <a:prstGeom prst="rect">
            <a:avLst/>
          </a:prstGeom>
          <a:solidFill>
            <a:srgbClr val="6399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993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9922"/>
                </a:solidFill>
              </a:rPr>
              <a:t>PIPER TTS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22494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quality · ~50MB models · runs on CPU · reads UI prompts aloud · voice authentication at login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2834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7040"/>
                </a:solidFill>
              </a:rPr>
              <a:t>VOICE COMMANDS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154680"/>
            <a:ext cx="4206240" cy="402336"/>
          </a:xfrm>
          <a:prstGeom prst="rect">
            <a:avLst/>
          </a:prstGeom>
          <a:solidFill>
            <a:srgbClr val="111A18"/>
          </a:solidFill>
          <a:ln w="5080">
            <a:solidFill>
              <a:srgbClr val="0D6B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1546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4A8"/>
                </a:solidFill>
              </a:rPr>
              <a:t>Navigation: 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463040" y="315468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</a:rPr>
              <a:t>show apps · go to files · show desktop · go to clock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3154680"/>
            <a:ext cx="4206240" cy="402336"/>
          </a:xfrm>
          <a:prstGeom prst="rect">
            <a:avLst/>
          </a:prstGeom>
          <a:solidFill>
            <a:srgbClr val="111A18"/>
          </a:solidFill>
          <a:ln w="5080">
            <a:solidFill>
              <a:srgbClr val="0D6B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1546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4A8"/>
                </a:solidFill>
              </a:rPr>
              <a:t>Apps: 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97880" y="315468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</a:rPr>
              <a:t>open browser · launch music · open terminal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630168"/>
            <a:ext cx="4206240" cy="402336"/>
          </a:xfrm>
          <a:prstGeom prst="rect">
            <a:avLst/>
          </a:prstGeom>
          <a:solidFill>
            <a:srgbClr val="111A18"/>
          </a:solidFill>
          <a:ln w="5080">
            <a:solidFill>
              <a:srgbClr val="0D6B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63016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4A8"/>
                </a:solidFill>
              </a:rPr>
              <a:t>System: 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463040" y="363016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</a:rPr>
              <a:t>confirm (= enter) · show desktop · switch to shell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3630168"/>
            <a:ext cx="4206240" cy="402336"/>
          </a:xfrm>
          <a:prstGeom prst="rect">
            <a:avLst/>
          </a:prstGeom>
          <a:solidFill>
            <a:srgbClr val="111A18"/>
          </a:solidFill>
          <a:ln w="5080">
            <a:solidFill>
              <a:srgbClr val="0D6B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63016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4A8"/>
                </a:solidFill>
              </a:rPr>
              <a:t>Emulation: 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897880" y="363016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</a:rPr>
              <a:t>launch SNES · what games do I have · save state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" y="4105656"/>
            <a:ext cx="8595360" cy="402336"/>
          </a:xfrm>
          <a:prstGeom prst="rect">
            <a:avLst/>
          </a:prstGeom>
          <a:solidFill>
            <a:srgbClr val="111A18"/>
          </a:solidFill>
          <a:ln w="5080">
            <a:solidFill>
              <a:srgbClr val="0D6B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1056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4A8"/>
                </a:solidFill>
              </a:rPr>
              <a:t>Dictation: 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463040" y="4105656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</a:rPr>
              <a:t>words stream as heard · 'confirm' submits · edit via keyboard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C14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B87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12480" y="48828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8A7A"/>
                </a:solidFill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14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"/>
            <a:ext cx="9144000" cy="18288"/>
          </a:xfrm>
          <a:prstGeom prst="rect">
            <a:avLst/>
          </a:prstGeom>
          <a:solidFill>
            <a:srgbClr val="B87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03120" y="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B87040"/>
                </a:solidFill>
              </a:rPr>
              <a:t>DESKTOP SHELL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640080"/>
            <a:ext cx="4160520" cy="320040"/>
          </a:xfrm>
          <a:prstGeom prst="rect">
            <a:avLst/>
          </a:prstGeom>
          <a:solidFill>
            <a:srgbClr val="1A9E8A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40080"/>
            <a:ext cx="416052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C4A8"/>
                </a:solidFill>
              </a:rPr>
              <a:t>CLI SHELL — permanent host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109728" cy="109728"/>
          </a:xfrm>
          <a:prstGeom prst="ellipse">
            <a:avLst/>
          </a:prstGeom>
          <a:solidFill>
            <a:srgbClr val="2EC4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2412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htop-style monitor bar — per-core CPU, RAM, temp, net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563624"/>
            <a:ext cx="109728" cy="109728"/>
          </a:xfrm>
          <a:prstGeom prst="ellipse">
            <a:avLst/>
          </a:prstGeom>
          <a:solidFill>
            <a:srgbClr val="2EC4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7218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pills: shell · apps · files · clock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011680"/>
            <a:ext cx="109728" cy="109728"/>
          </a:xfrm>
          <a:prstGeom prst="ellipse">
            <a:avLst/>
          </a:prstGeom>
          <a:solidFill>
            <a:srgbClr val="2EC4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202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screen — icon grid with category filters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459736"/>
            <a:ext cx="109728" cy="109728"/>
          </a:xfrm>
          <a:prstGeom prst="ellipse">
            <a:avLst/>
          </a:prstGeom>
          <a:solidFill>
            <a:srgbClr val="2EC4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6829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browser — navigable NexOS filesystem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907792"/>
            <a:ext cx="109728" cy="109728"/>
          </a:xfrm>
          <a:prstGeom prst="ellipse">
            <a:avLst/>
          </a:prstGeom>
          <a:solidFill>
            <a:srgbClr val="2EC4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1635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+ calendar view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355848"/>
            <a:ext cx="109728" cy="109728"/>
          </a:xfrm>
          <a:prstGeom prst="ellipse">
            <a:avLst/>
          </a:prstGeom>
          <a:solidFill>
            <a:srgbClr val="2EC4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644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Dictation bar — streaming STT + keyboard editing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803904"/>
            <a:ext cx="109728" cy="109728"/>
          </a:xfrm>
          <a:prstGeom prst="ellipse">
            <a:avLst/>
          </a:prstGeom>
          <a:solidFill>
            <a:srgbClr val="2EC4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1246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show/go to commands for all views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4251960"/>
            <a:ext cx="109728" cy="109728"/>
          </a:xfrm>
          <a:prstGeom prst="ellipse">
            <a:avLst/>
          </a:prstGeom>
          <a:solidFill>
            <a:srgbClr val="2EC4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605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 launched as guest — returns on app close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640080"/>
            <a:ext cx="4206240" cy="320040"/>
          </a:xfrm>
          <a:prstGeom prst="rect">
            <a:avLst/>
          </a:prstGeom>
          <a:solidFill>
            <a:srgbClr val="6A5AC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640080"/>
            <a:ext cx="420624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5AC8"/>
                </a:solidFill>
              </a:rPr>
              <a:t>GUI CANVAS — summoned on demand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1115568"/>
            <a:ext cx="109728" cy="109728"/>
          </a:xfrm>
          <a:prstGeom prst="ellipse">
            <a:avLst/>
          </a:prstGeom>
          <a:solidFill>
            <a:srgbClr val="6A5A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024128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NexOS N ring — CPU-reactive pulse, voice trigger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09160" y="1563624"/>
            <a:ext cx="109728" cy="109728"/>
          </a:xfrm>
          <a:prstGeom prst="ellipse">
            <a:avLst/>
          </a:prstGeom>
          <a:solidFill>
            <a:srgbClr val="6A5A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472184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canvas — drag app cards freely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2011680"/>
            <a:ext cx="109728" cy="109728"/>
          </a:xfrm>
          <a:prstGeom prst="ellipse">
            <a:avLst/>
          </a:prstGeom>
          <a:solidFill>
            <a:srgbClr val="6A5A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920240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Zoom-as-depth — layers revealed at zoom thresholds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9160" y="2459736"/>
            <a:ext cx="109728" cy="109728"/>
          </a:xfrm>
          <a:prstGeom prst="ellipse">
            <a:avLst/>
          </a:prstGeom>
          <a:solidFill>
            <a:srgbClr val="6A5A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368296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to top = maximise · drag to bottom = minimise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09160" y="2907792"/>
            <a:ext cx="109728" cy="109728"/>
          </a:xfrm>
          <a:prstGeom prst="ellipse">
            <a:avLst/>
          </a:prstGeom>
          <a:solidFill>
            <a:srgbClr val="6A5A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81635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title = fullscreen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09160" y="3355848"/>
            <a:ext cx="109728" cy="109728"/>
          </a:xfrm>
          <a:prstGeom prst="ellipse">
            <a:avLst/>
          </a:prstGeom>
          <a:solidFill>
            <a:srgbClr val="6A5A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264408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Per-card zoom — independent of canvas zoom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09160" y="3803904"/>
            <a:ext cx="109728" cy="109728"/>
          </a:xfrm>
          <a:prstGeom prst="ellipse">
            <a:avLst/>
          </a:prstGeom>
          <a:solidFill>
            <a:srgbClr val="6A5A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712464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canvas by dragging background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09160" y="4251960"/>
            <a:ext cx="109728" cy="109728"/>
          </a:xfrm>
          <a:prstGeom prst="ellipse">
            <a:avLst/>
          </a:prstGeom>
          <a:solidFill>
            <a:srgbClr val="6A5A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4160520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Wallpapers from /NexOS-wallpapers/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C14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B87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0" y="48828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8A7A"/>
                </a:solidFill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E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14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"/>
            <a:ext cx="9144000" cy="18288"/>
          </a:xfrm>
          <a:prstGeom prst="rect">
            <a:avLst/>
          </a:prstGeom>
          <a:solidFill>
            <a:srgbClr val="B87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03120" y="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B87040"/>
                </a:solidFill>
              </a:rPr>
              <a:t>PACKAGES &amp; EMULATION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7040"/>
                </a:solidFill>
              </a:rPr>
              <a:t>PACKAGE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78408"/>
            <a:ext cx="4023360" cy="768096"/>
          </a:xfrm>
          <a:prstGeom prst="rect">
            <a:avLst/>
          </a:prstGeom>
          <a:solidFill>
            <a:srgbClr val="111A18"/>
          </a:solidFill>
          <a:ln w="8890">
            <a:solidFill>
              <a:srgbClr val="2EC4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78408"/>
            <a:ext cx="54864" cy="768096"/>
          </a:xfrm>
          <a:prstGeom prst="rect">
            <a:avLst/>
          </a:prstGeom>
          <a:solidFill>
            <a:srgbClr val="2EC4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024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Nala / apt / dpkg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" y="1298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packages — Debian base + NexOS own repo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874520"/>
            <a:ext cx="4023360" cy="768096"/>
          </a:xfrm>
          <a:prstGeom prst="rect">
            <a:avLst/>
          </a:prstGeom>
          <a:solidFill>
            <a:srgbClr val="111A18"/>
          </a:solidFill>
          <a:ln w="8890">
            <a:solidFill>
              <a:srgbClr val="639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874520"/>
            <a:ext cx="54864" cy="768096"/>
          </a:xfrm>
          <a:prstGeom prst="rect">
            <a:avLst/>
          </a:prstGeom>
          <a:solidFill>
            <a:srgbClr val="6399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920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Flatpak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" y="2194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apps — Flathub · portal system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770632"/>
            <a:ext cx="4023360" cy="768096"/>
          </a:xfrm>
          <a:prstGeom prst="rect">
            <a:avLst/>
          </a:prstGeom>
          <a:solidFill>
            <a:srgbClr val="111A18"/>
          </a:solidFill>
          <a:ln w="8890">
            <a:solidFill>
              <a:srgbClr val="EF9F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70632"/>
            <a:ext cx="54864" cy="768096"/>
          </a:xfrm>
          <a:prstGeom prst="rect">
            <a:avLst/>
          </a:prstGeom>
          <a:solidFill>
            <a:srgbClr val="EF9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28163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Upgrader App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" y="30906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GUI/voice hub — updates · emulation cores · gaming kernels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666744"/>
            <a:ext cx="4023360" cy="768096"/>
          </a:xfrm>
          <a:prstGeom prst="rect">
            <a:avLst/>
          </a:prstGeom>
          <a:solidFill>
            <a:srgbClr val="111A18"/>
          </a:solidFill>
          <a:ln w="8890">
            <a:solidFill>
              <a:srgbClr val="534AB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666744"/>
            <a:ext cx="54864" cy="768096"/>
          </a:xfrm>
          <a:prstGeom prst="rect">
            <a:avLst/>
          </a:prstGeom>
          <a:solidFill>
            <a:srgbClr val="534A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3712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ISO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0624" y="39867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bootstrap · downloads arch tarball · installs from RAM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63440" y="6583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24B4A"/>
                </a:solidFill>
              </a:rPr>
              <a:t>EMULATION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978408"/>
            <a:ext cx="4206240" cy="420624"/>
          </a:xfrm>
          <a:prstGeom prst="rect">
            <a:avLst/>
          </a:prstGeom>
          <a:solidFill>
            <a:srgbClr val="111A18"/>
          </a:solidFill>
          <a:ln w="7620">
            <a:solidFill>
              <a:srgbClr val="E24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97840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4B4A"/>
                </a:solidFill>
              </a:rPr>
              <a:t>RetroArch + libretro cores via apt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1481328"/>
            <a:ext cx="969264" cy="438912"/>
          </a:xfrm>
          <a:prstGeom prst="rect">
            <a:avLst/>
          </a:prstGeom>
          <a:solidFill>
            <a:srgbClr val="111A18"/>
          </a:solidFill>
          <a:ln w="6350">
            <a:solidFill>
              <a:srgbClr val="E24B4A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481328"/>
            <a:ext cx="969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EDE8"/>
                </a:solidFill>
              </a:rPr>
              <a:t>SNES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24144" y="1481328"/>
            <a:ext cx="969264" cy="438912"/>
          </a:xfrm>
          <a:prstGeom prst="rect">
            <a:avLst/>
          </a:prstGeom>
          <a:solidFill>
            <a:srgbClr val="111A18"/>
          </a:solidFill>
          <a:ln w="6350">
            <a:solidFill>
              <a:srgbClr val="E24B4A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24144" y="1481328"/>
            <a:ext cx="969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EDE8"/>
                </a:solidFill>
              </a:rPr>
              <a:t>GBA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84848" y="1481328"/>
            <a:ext cx="969264" cy="438912"/>
          </a:xfrm>
          <a:prstGeom prst="rect">
            <a:avLst/>
          </a:prstGeom>
          <a:solidFill>
            <a:srgbClr val="111A18"/>
          </a:solidFill>
          <a:ln w="6350">
            <a:solidFill>
              <a:srgbClr val="E24B4A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84848" y="1481328"/>
            <a:ext cx="969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EDE8"/>
                </a:solidFill>
              </a:rPr>
              <a:t>NES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845552" y="1481328"/>
            <a:ext cx="969264" cy="438912"/>
          </a:xfrm>
          <a:prstGeom prst="rect">
            <a:avLst/>
          </a:prstGeom>
          <a:solidFill>
            <a:srgbClr val="111A18"/>
          </a:solidFill>
          <a:ln w="6350">
            <a:solidFill>
              <a:srgbClr val="E24B4A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45552" y="1481328"/>
            <a:ext cx="969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EDE8"/>
                </a:solidFill>
              </a:rPr>
              <a:t>GEN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011680"/>
            <a:ext cx="969264" cy="438912"/>
          </a:xfrm>
          <a:prstGeom prst="rect">
            <a:avLst/>
          </a:prstGeom>
          <a:solidFill>
            <a:srgbClr val="111A18"/>
          </a:solidFill>
          <a:ln w="6350">
            <a:solidFill>
              <a:srgbClr val="E24B4A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011680"/>
            <a:ext cx="969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EDE8"/>
                </a:solidFill>
              </a:rPr>
              <a:t>SMS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24144" y="2011680"/>
            <a:ext cx="969264" cy="438912"/>
          </a:xfrm>
          <a:prstGeom prst="rect">
            <a:avLst/>
          </a:prstGeom>
          <a:solidFill>
            <a:srgbClr val="111A18"/>
          </a:solidFill>
          <a:ln w="6350">
            <a:solidFill>
              <a:srgbClr val="E24B4A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24144" y="2011680"/>
            <a:ext cx="969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EDE8"/>
                </a:solidFill>
              </a:rPr>
              <a:t>PS1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84848" y="2011680"/>
            <a:ext cx="969264" cy="438912"/>
          </a:xfrm>
          <a:prstGeom prst="rect">
            <a:avLst/>
          </a:prstGeom>
          <a:solidFill>
            <a:srgbClr val="111A18"/>
          </a:solidFill>
          <a:ln w="6350">
            <a:solidFill>
              <a:srgbClr val="E24B4A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84848" y="2011680"/>
            <a:ext cx="969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EDE8"/>
                </a:solidFill>
              </a:rPr>
              <a:t>N64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845552" y="2011680"/>
            <a:ext cx="969264" cy="438912"/>
          </a:xfrm>
          <a:prstGeom prst="rect">
            <a:avLst/>
          </a:prstGeom>
          <a:solidFill>
            <a:srgbClr val="111A18"/>
          </a:solidFill>
          <a:ln w="6350">
            <a:solidFill>
              <a:srgbClr val="E24B4A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45552" y="2011680"/>
            <a:ext cx="969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EDE8"/>
                </a:solidFill>
              </a:rPr>
              <a:t>GB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2578608"/>
            <a:ext cx="4206240" cy="402336"/>
          </a:xfrm>
          <a:prstGeom prst="rect">
            <a:avLst/>
          </a:prstGeom>
          <a:solidFill>
            <a:srgbClr val="111A18"/>
          </a:solidFill>
          <a:ln w="6350">
            <a:solidFill>
              <a:srgbClr val="0D6B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57860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8A7A"/>
                </a:solidFill>
              </a:rPr>
              <a:t>Each console: /NexOS-emulation/SNES/ — core + roms/ + saves/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3063240"/>
            <a:ext cx="4206240" cy="402336"/>
          </a:xfrm>
          <a:prstGeom prst="rect">
            <a:avLst/>
          </a:prstGeom>
          <a:solidFill>
            <a:srgbClr val="111A18"/>
          </a:solidFill>
          <a:ln w="6350">
            <a:solidFill>
              <a:srgbClr val="6399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06324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</a:rPr>
              <a:t>Upgrader app — install/remove consoles, gaming kernels,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</a:rPr>
              <a:t>compat layers via GUI or voice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63440" y="3547872"/>
            <a:ext cx="4206240" cy="1234440"/>
          </a:xfrm>
          <a:prstGeom prst="rect">
            <a:avLst/>
          </a:prstGeom>
          <a:solidFill>
            <a:srgbClr val="111A18"/>
          </a:solidFill>
          <a:ln w="7620">
            <a:solidFill>
              <a:srgbClr val="EF9F2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3547872"/>
            <a:ext cx="54864" cy="1234440"/>
          </a:xfrm>
          <a:prstGeom prst="rect">
            <a:avLst/>
          </a:prstGeom>
          <a:solidFill>
            <a:srgbClr val="EF9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9744" y="3602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9F27"/>
                </a:solidFill>
              </a:rPr>
              <a:t>Universal Bootstrap ISO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09744" y="3895344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 tiny ISO → detect arch → connect network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download NexOS tarball → extract to RAM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installer runs → kexec into installed OS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C14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B87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0" y="48828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8A7A"/>
                </a:solidFill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14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"/>
            <a:ext cx="9144000" cy="18288"/>
          </a:xfrm>
          <a:prstGeom prst="rect">
            <a:avLst/>
          </a:prstGeom>
          <a:solidFill>
            <a:srgbClr val="B87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03120" y="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B87040"/>
                </a:solidFill>
              </a:rPr>
              <a:t>SECURITY MODEL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8595360" cy="694944"/>
          </a:xfrm>
          <a:prstGeom prst="rect">
            <a:avLst/>
          </a:prstGeom>
          <a:solidFill>
            <a:srgbClr val="111A18"/>
          </a:solidFill>
          <a:ln w="8890">
            <a:solidFill>
              <a:srgbClr val="E24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"/>
            <a:ext cx="64008" cy="694944"/>
          </a:xfrm>
          <a:prstGeom prst="rect">
            <a:avLst/>
          </a:prstGeom>
          <a:solidFill>
            <a:srgbClr val="E24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949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4B4A"/>
                </a:solidFill>
              </a:rPr>
              <a:t>SYSTEM CAPABILITIES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9418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by OpenRC/init · hardware registers · kernel memory · device IRQs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user-accessible — mathematically enforced by seL4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444752"/>
            <a:ext cx="8595360" cy="694944"/>
          </a:xfrm>
          <a:prstGeom prst="rect">
            <a:avLst/>
          </a:prstGeom>
          <a:solidFill>
            <a:srgbClr val="111A18"/>
          </a:solidFill>
          <a:ln w="8890">
            <a:solidFill>
              <a:srgbClr val="EF9F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444752"/>
            <a:ext cx="64008" cy="694944"/>
          </a:xfrm>
          <a:prstGeom prst="rect">
            <a:avLst/>
          </a:prstGeom>
          <a:solidFill>
            <a:srgbClr val="EF9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4813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9F27"/>
                </a:solidFill>
              </a:rPr>
              <a:t>SERVICE CAPABILITIES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" y="17282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by daemons (audio, network, speech, display)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from system at boot via OpenRC · scoped to service domain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8595360" cy="694944"/>
          </a:xfrm>
          <a:prstGeom prst="rect">
            <a:avLst/>
          </a:prstGeom>
          <a:solidFill>
            <a:srgbClr val="111A18"/>
          </a:solidFill>
          <a:ln w="8890">
            <a:solidFill>
              <a:srgbClr val="2EC4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31136"/>
            <a:ext cx="64008" cy="694944"/>
          </a:xfrm>
          <a:prstGeom prst="rect">
            <a:avLst/>
          </a:prstGeom>
          <a:solidFill>
            <a:srgbClr val="2EC4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2677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C4A8"/>
                </a:solidFill>
              </a:rPr>
              <a:t>USER CAPABILITIES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" y="2514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 to apps and sessions · attenuated from service caps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and revocable · portal-based permission prompts for new apps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4320" y="30632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7040"/>
                </a:solidFill>
              </a:rPr>
              <a:t>PERMISSION FLOW — NEW APP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401568"/>
            <a:ext cx="1554480" cy="896112"/>
          </a:xfrm>
          <a:prstGeom prst="rect">
            <a:avLst/>
          </a:prstGeom>
          <a:solidFill>
            <a:srgbClr val="111A18"/>
          </a:solidFill>
          <a:ln w="8890">
            <a:solidFill>
              <a:srgbClr val="2EC4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01568"/>
            <a:ext cx="1554480" cy="64008"/>
          </a:xfrm>
          <a:prstGeom prst="rect">
            <a:avLst/>
          </a:prstGeom>
          <a:solidFill>
            <a:srgbClr val="2EC4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493008"/>
            <a:ext cx="1408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installed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Flatpak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47088" y="3813048"/>
            <a:ext cx="155448" cy="54864"/>
          </a:xfrm>
          <a:prstGeom prst="rect">
            <a:avLst/>
          </a:prstGeom>
          <a:solidFill>
            <a:srgbClr val="5A8A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0" y="3401568"/>
            <a:ext cx="1554480" cy="896112"/>
          </a:xfrm>
          <a:prstGeom prst="rect">
            <a:avLst/>
          </a:prstGeom>
          <a:solidFill>
            <a:srgbClr val="111A18"/>
          </a:solidFill>
          <a:ln w="889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11680" y="3401568"/>
            <a:ext cx="1554480" cy="64008"/>
          </a:xfrm>
          <a:prstGeom prst="rect">
            <a:avLst/>
          </a:prstGeom>
          <a:solidFill>
            <a:srgbClr val="EF9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84832" y="3493008"/>
            <a:ext cx="1408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declares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portals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584448" y="3813048"/>
            <a:ext cx="155448" cy="54864"/>
          </a:xfrm>
          <a:prstGeom prst="rect">
            <a:avLst/>
          </a:prstGeom>
          <a:solidFill>
            <a:srgbClr val="5A8A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49040" y="3401568"/>
            <a:ext cx="1554480" cy="896112"/>
          </a:xfrm>
          <a:prstGeom prst="rect">
            <a:avLst/>
          </a:prstGeom>
          <a:solidFill>
            <a:srgbClr val="111A18"/>
          </a:solidFill>
          <a:ln w="8890">
            <a:solidFill>
              <a:srgbClr val="639922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49040" y="3401568"/>
            <a:ext cx="1554480" cy="64008"/>
          </a:xfrm>
          <a:prstGeom prst="rect">
            <a:avLst/>
          </a:prstGeom>
          <a:solidFill>
            <a:srgbClr val="6399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22192" y="3493008"/>
            <a:ext cx="1408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approves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first launch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321808" y="3813048"/>
            <a:ext cx="155448" cy="54864"/>
          </a:xfrm>
          <a:prstGeom prst="rect">
            <a:avLst/>
          </a:prstGeom>
          <a:solidFill>
            <a:srgbClr val="5A8A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3401568"/>
            <a:ext cx="1554480" cy="896112"/>
          </a:xfrm>
          <a:prstGeom prst="rect">
            <a:avLst/>
          </a:prstGeom>
          <a:solidFill>
            <a:srgbClr val="111A18"/>
          </a:solidFill>
          <a:ln w="8890">
            <a:solidFill>
              <a:srgbClr val="534AB7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0" y="3401568"/>
            <a:ext cx="1554480" cy="64008"/>
          </a:xfrm>
          <a:prstGeom prst="rect">
            <a:avLst/>
          </a:prstGeom>
          <a:solidFill>
            <a:srgbClr val="534A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59552" y="3493008"/>
            <a:ext cx="1408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tokens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 &amp; stored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059168" y="3813048"/>
            <a:ext cx="155448" cy="54864"/>
          </a:xfrm>
          <a:prstGeom prst="rect">
            <a:avLst/>
          </a:prstGeom>
          <a:solidFill>
            <a:srgbClr val="5A8A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0" y="3401568"/>
            <a:ext cx="1554480" cy="896112"/>
          </a:xfrm>
          <a:prstGeom prst="rect">
            <a:avLst/>
          </a:prstGeom>
          <a:solidFill>
            <a:srgbClr val="111A18"/>
          </a:solidFill>
          <a:ln w="8890">
            <a:solidFill>
              <a:srgbClr val="E24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223760" y="3401568"/>
            <a:ext cx="1554480" cy="64008"/>
          </a:xfrm>
          <a:prstGeom prst="rect">
            <a:avLst/>
          </a:prstGeom>
          <a:solidFill>
            <a:srgbClr val="E24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96912" y="3493008"/>
            <a:ext cx="1408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app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escalate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C14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B87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0" y="48828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8A7A"/>
                </a:solidFill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E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14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"/>
            <a:ext cx="9144000" cy="18288"/>
          </a:xfrm>
          <a:prstGeom prst="rect">
            <a:avLst/>
          </a:prstGeom>
          <a:solidFill>
            <a:srgbClr val="B87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03120" y="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B87040"/>
                </a:solidFill>
              </a:rPr>
              <a:t>BUILD ROADMAP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4160520" cy="548640"/>
          </a:xfrm>
          <a:prstGeom prst="rect">
            <a:avLst/>
          </a:prstGeom>
          <a:solidFill>
            <a:srgbClr val="111A18"/>
          </a:solidFill>
          <a:ln w="7620">
            <a:solidFill>
              <a:srgbClr val="E24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77240"/>
            <a:ext cx="292608" cy="292608"/>
          </a:xfrm>
          <a:prstGeom prst="ellipse">
            <a:avLst/>
          </a:prstGeom>
          <a:solidFill>
            <a:srgbClr val="E24B4A">
              <a:alpha val="25000"/>
            </a:srgbClr>
          </a:solidFill>
          <a:ln w="8890">
            <a:solidFill>
              <a:srgbClr val="E24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77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24B4A"/>
                </a:solidFill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9808" y="7132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9326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seL4 boot x86_64 · OpenRC bringup · BusyBox · GRUB · /NexOS-hardware VFS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4709160" y="658368"/>
            <a:ext cx="4160520" cy="548640"/>
          </a:xfrm>
          <a:prstGeom prst="rect">
            <a:avLst/>
          </a:prstGeom>
          <a:solidFill>
            <a:srgbClr val="111A18"/>
          </a:solidFill>
          <a:ln w="7620">
            <a:solidFill>
              <a:srgbClr val="EF9F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777240"/>
            <a:ext cx="292608" cy="292608"/>
          </a:xfrm>
          <a:prstGeom prst="ellipse">
            <a:avLst/>
          </a:prstGeom>
          <a:solidFill>
            <a:srgbClr val="EF9F27">
              <a:alpha val="25000"/>
            </a:srgbClr>
          </a:solidFill>
          <a:ln w="8890">
            <a:solidFill>
              <a:srgbClr val="EF9F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777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9F27"/>
                </a:solidFill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184648" y="7132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84648" y="9326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Whisper.cpp STT · Piper TTS · NLP intent · /NexOS-speech nodes · confirm command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74320" y="1280160"/>
            <a:ext cx="4160520" cy="548640"/>
          </a:xfrm>
          <a:prstGeom prst="rect">
            <a:avLst/>
          </a:prstGeom>
          <a:solidFill>
            <a:srgbClr val="111A18"/>
          </a:solidFill>
          <a:ln w="7620">
            <a:solidFill>
              <a:srgbClr val="2EC4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399032"/>
            <a:ext cx="292608" cy="292608"/>
          </a:xfrm>
          <a:prstGeom prst="ellipse">
            <a:avLst/>
          </a:prstGeom>
          <a:solidFill>
            <a:srgbClr val="2EC4A8">
              <a:alpha val="25000"/>
            </a:srgbClr>
          </a:solidFill>
          <a:ln w="8890">
            <a:solidFill>
              <a:srgbClr val="2EC4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399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C4A8"/>
                </a:solidFill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49808" y="13350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shell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" y="15544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bar · tabs · dictation bar · show/go to · file browser · clock view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709160" y="1280160"/>
            <a:ext cx="4160520" cy="548640"/>
          </a:xfrm>
          <a:prstGeom prst="rect">
            <a:avLst/>
          </a:prstGeom>
          <a:solidFill>
            <a:srgbClr val="111A18"/>
          </a:solidFill>
          <a:ln w="7620">
            <a:solidFill>
              <a:srgbClr val="639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399032"/>
            <a:ext cx="292608" cy="292608"/>
          </a:xfrm>
          <a:prstGeom prst="ellipse">
            <a:avLst/>
          </a:prstGeom>
          <a:solidFill>
            <a:srgbClr val="639922">
              <a:alpha val="25000"/>
            </a:srgbClr>
          </a:solidFill>
          <a:ln w="8890">
            <a:solidFill>
              <a:srgbClr val="6399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399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39922"/>
                </a:solidFill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84648" y="13350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&amp; compat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84648" y="15544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Nala/apt/dpkg · Flatpak · Linux compat · Upgrader app · NexOS package repo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74320" y="1901952"/>
            <a:ext cx="4160520" cy="548640"/>
          </a:xfrm>
          <a:prstGeom prst="rect">
            <a:avLst/>
          </a:prstGeom>
          <a:solidFill>
            <a:srgbClr val="111A18"/>
          </a:solidFill>
          <a:ln w="7620">
            <a:solidFill>
              <a:srgbClr val="6A5AC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020824"/>
            <a:ext cx="292608" cy="292608"/>
          </a:xfrm>
          <a:prstGeom prst="ellipse">
            <a:avLst/>
          </a:prstGeom>
          <a:solidFill>
            <a:srgbClr val="6A5AC8">
              <a:alpha val="25000"/>
            </a:srgbClr>
          </a:solidFill>
          <a:ln w="8890">
            <a:solidFill>
              <a:srgbClr val="6A5A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5AC8"/>
                </a:solidFill>
              </a:rPr>
              <a:t>05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9808" y="19568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5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canvas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9808" y="21762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XLibre · Qtile WM · spatial canvas · zoom-depth layers · card system · wallpapers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4709160" y="1901952"/>
            <a:ext cx="4160520" cy="548640"/>
          </a:xfrm>
          <a:prstGeom prst="rect">
            <a:avLst/>
          </a:prstGeom>
          <a:solidFill>
            <a:srgbClr val="111A18"/>
          </a:solidFill>
          <a:ln w="7620">
            <a:solidFill>
              <a:srgbClr val="534AB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2020824"/>
            <a:ext cx="292608" cy="292608"/>
          </a:xfrm>
          <a:prstGeom prst="ellipse">
            <a:avLst/>
          </a:prstGeom>
          <a:solidFill>
            <a:srgbClr val="534AB7">
              <a:alpha val="25000"/>
            </a:srgbClr>
          </a:solidFill>
          <a:ln w="8890">
            <a:solidFill>
              <a:srgbClr val="534A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34AB7"/>
                </a:solidFill>
              </a:rPr>
              <a:t>06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84648" y="19568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84648" y="21762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bootstrap ISO · Qt5 installer · donut disk UI · kexec handoff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274320" y="2523744"/>
            <a:ext cx="4160520" cy="548640"/>
          </a:xfrm>
          <a:prstGeom prst="rect">
            <a:avLst/>
          </a:prstGeom>
          <a:solidFill>
            <a:srgbClr val="111A18"/>
          </a:solidFill>
          <a:ln w="7620">
            <a:solidFill>
              <a:srgbClr val="B870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2642616"/>
            <a:ext cx="292608" cy="292608"/>
          </a:xfrm>
          <a:prstGeom prst="ellipse">
            <a:avLst/>
          </a:prstGeom>
          <a:solidFill>
            <a:srgbClr val="B87040">
              <a:alpha val="25000"/>
            </a:srgbClr>
          </a:solidFill>
          <a:ln w="8890">
            <a:solidFill>
              <a:srgbClr val="B870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87040"/>
                </a:solidFill>
              </a:rPr>
              <a:t>07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49808" y="25786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Emulation &amp; apps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9808" y="27980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RetroArch + cores · Android layer · Wine · Waveplayer · text editor · Upgrader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4709160" y="2523744"/>
            <a:ext cx="4160520" cy="548640"/>
          </a:xfrm>
          <a:prstGeom prst="rect">
            <a:avLst/>
          </a:prstGeom>
          <a:solidFill>
            <a:srgbClr val="111A18"/>
          </a:solidFill>
          <a:ln w="7620">
            <a:solidFill>
              <a:srgbClr val="5A8A7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2642616"/>
            <a:ext cx="292608" cy="292608"/>
          </a:xfrm>
          <a:prstGeom prst="ellipse">
            <a:avLst/>
          </a:prstGeom>
          <a:solidFill>
            <a:srgbClr val="5A8A7A">
              <a:alpha val="25000"/>
            </a:srgbClr>
          </a:solidFill>
          <a:ln w="8890">
            <a:solidFill>
              <a:srgbClr val="5A8A7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8A7A"/>
                </a:solidFill>
              </a:rPr>
              <a:t>08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184648" y="25786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ports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84648" y="27980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ARM64 · CM4 phone · combadge firmware · security hardening · gaming kernels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274320" y="4590288"/>
            <a:ext cx="8595360" cy="219456"/>
          </a:xfrm>
          <a:prstGeom prst="rect">
            <a:avLst/>
          </a:prstGeom>
          <a:solidFill>
            <a:srgbClr val="1A9E8A">
              <a:alpha val="15000"/>
            </a:srgbClr>
          </a:solidFill>
          <a:ln w="6350">
            <a:solidFill>
              <a:srgbClr val="2EC4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59028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4A8"/>
                </a:solidFill>
              </a:rPr>
              <a:t>Repo: monorepo · DansDesigns/nexos  ·  Web: alternitech.square.site  ·  WM: Qtile  ·  Arch: hardware-scan adaptive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C14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B87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12480" y="48828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8A7A"/>
                </a:solidFill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1121</Words>
  <Application>Microsoft Office PowerPoint</Application>
  <PresentationFormat>On-screen Show (16:9)</PresentationFormat>
  <Paragraphs>243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NexOS — Project Summary</dc:title>
  <dc:subject>PptxGenJS Presentation</dc:subject>
  <dc:creator>PptxGenJS</dc:creator>
  <cp:lastModifiedBy>Dan</cp:lastModifiedBy>
  <cp:revision>2</cp:revision>
  <dcterms:created xsi:type="dcterms:W3CDTF">2026-05-06T11:36:07Z</dcterms:created>
  <dcterms:modified xsi:type="dcterms:W3CDTF">2026-05-06T11:52:28Z</dcterms:modified>
</cp:coreProperties>
</file>